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51560"/>
            <a:ext cx="107899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7365D"/>
                </a:solidFill>
                <a:latin typeface="Aptos Display"/>
              </a:defRPr>
            </a:pPr>
            <a:r>
              <a:t>CDC-Aware RTL Generation Benchmark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8" y="2148840"/>
            <a:ext cx="106070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>
                <a:solidFill>
                  <a:srgbClr val="172033"/>
                </a:solidFill>
                <a:latin typeface="Aptos"/>
              </a:defRPr>
            </a:pPr>
            <a:r>
              <a:t>Can an LLM generate RTL that is both functionally correct and CDC/RDC-safe?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3337560"/>
            <a:ext cx="10652760" cy="749808"/>
          </a:xfrm>
          <a:prstGeom prst="rect">
            <a:avLst/>
          </a:prstGeom>
          <a:solidFill>
            <a:srgbClr val="DFE7F2"/>
          </a:solidFill>
          <a:ln w="25400">
            <a:solidFill>
              <a:srgbClr val="9B2C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100" b="1">
                <a:solidFill>
                  <a:srgbClr val="9B2C2C"/>
                </a:solidFill>
                <a:latin typeface="Aptos"/>
              </a:defRPr>
            </a:pPr>
            <a:r>
              <a:t>Latest result: GPT-5.6 Sol had 29 functional passes; JasperGold passed 0 of them.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846320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4B5563"/>
                </a:solidFill>
                <a:latin typeface="Aptos"/>
              </a:defRPr>
            </a:pPr>
            <a:r>
              <a:t>Faiza · Advisor update · 24 August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6510528"/>
            <a:ext cx="10881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B5563"/>
                </a:solidFill>
                <a:latin typeface="Aptos"/>
              </a:defRPr>
            </a:pPr>
            <a:r>
              <a:t>Faiza · CDC-aware RTL generation · 24 Aug 2026                                    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7365D"/>
                </a:solidFill>
                <a:latin typeface="Aptos Display"/>
              </a:defRPr>
            </a:pPr>
            <a:r>
              <a:t>Motivation and research question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510528"/>
            <a:ext cx="10881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B5563"/>
                </a:solidFill>
                <a:latin typeface="Aptos"/>
              </a:defRPr>
            </a:pPr>
            <a:r>
              <a:t>Faiza · CDC-aware RTL generation · 24 Aug 2026                                     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  <a:defRPr sz="2200">
                <a:solidFill>
                  <a:srgbClr val="172033"/>
                </a:solidFill>
                <a:latin typeface="Aptos"/>
              </a:defRPr>
            </a:pPr>
            <a:r>
              <a:t>Most RTL-generation work scores compilation and functional simulation.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2200">
                <a:solidFill>
                  <a:srgbClr val="172033"/>
                </a:solidFill>
                <a:latin typeface="Aptos"/>
              </a:defRPr>
            </a:pPr>
            <a:r>
              <a:t>Ordinary digital simulation does not model metastability or structural CDC/RDC safety.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2200">
                <a:solidFill>
                  <a:srgbClr val="172033"/>
                </a:solidFill>
                <a:latin typeface="Aptos"/>
              </a:defRPr>
            </a:pPr>
            <a:r>
              <a:t>A design may pass its testbench while retaining unsafe clock/reset crossings.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2200">
                <a:solidFill>
                  <a:srgbClr val="172033"/>
                </a:solidFill>
                <a:latin typeface="Aptos"/>
              </a:defRPr>
            </a:pPr>
            <a:r>
              <a:t>Research question: can generated RTL satisfy both function and CDC/RDC constraints?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5257800"/>
            <a:ext cx="10652760" cy="749808"/>
          </a:xfrm>
          <a:prstGeom prst="rect">
            <a:avLst/>
          </a:prstGeom>
          <a:solidFill>
            <a:srgbClr val="DFE7F2"/>
          </a:solidFill>
          <a:ln w="25400">
            <a:solidFill>
              <a:srgbClr val="9B2C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100" b="1">
                <a:solidFill>
                  <a:srgbClr val="9B2C2C"/>
                </a:solidFill>
                <a:latin typeface="Aptos"/>
              </a:defRPr>
            </a:pPr>
            <a:r>
              <a:t>Supported claim: functional pass does not imply CDC/RDC-clean.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7365D"/>
                </a:solidFill>
                <a:latin typeface="Aptos Display"/>
              </a:defRPr>
            </a:pPr>
            <a:r>
              <a:t>Benchmark and evaluation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510528"/>
            <a:ext cx="10881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B5563"/>
                </a:solidFill>
                <a:latin typeface="Aptos"/>
              </a:defRPr>
            </a:pPr>
            <a:r>
              <a:t>Faiza · CDC-aware RTL generation · 24 Aug 2026                                     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  <a:defRPr sz="1800">
                <a:solidFill>
                  <a:srgbClr val="172033"/>
                </a:solidFill>
                <a:latin typeface="Aptos"/>
              </a:defRPr>
            </a:pPr>
            <a:r>
              <a:t>44 circuits packaged with RTL, TB, SDC, and Jasper.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1800">
                <a:solidFill>
                  <a:srgbClr val="172033"/>
                </a:solidFill>
                <a:latin typeface="Aptos"/>
              </a:defRPr>
            </a:pPr>
            <a:r>
              <a:t>Original and CDC/RDC-fixed RTL kept separate.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1800">
                <a:solidFill>
                  <a:srgbClr val="172033"/>
                </a:solidFill>
                <a:latin typeface="Aptos"/>
              </a:defRPr>
            </a:pPr>
            <a:r>
              <a:t>Golden RTL is never in the prompt; generated RTL is never edited.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1800">
                <a:solidFill>
                  <a:srgbClr val="172033"/>
                </a:solidFill>
                <a:latin typeface="Aptos"/>
              </a:defRPr>
            </a:pPr>
            <a:r>
              <a:t>Pilot: cdc_2phase, async_fifo, apbxclk.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1800">
                <a:solidFill>
                  <a:srgbClr val="172033"/>
                </a:solidFill>
                <a:latin typeface="Aptos"/>
              </a:defRPr>
            </a:pPr>
            <a:r>
              <a:t>Functional prompt: ports and behavior.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1800">
                <a:solidFill>
                  <a:srgbClr val="172033"/>
                </a:solidFill>
                <a:latin typeface="Aptos"/>
              </a:defRPr>
            </a:pPr>
            <a:r>
              <a:t>CDC-explicit: same, plus must be CDC/RDC-safe — no Gray/2-flop hints.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371600"/>
            <a:ext cx="502920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100" b="1">
                <a:solidFill>
                  <a:srgbClr val="17365D"/>
                </a:solidFill>
                <a:latin typeface="Aptos"/>
              </a:defRPr>
            </a:pPr>
            <a:r>
              <a:t>Frozen prompt</a:t>
            </a:r>
          </a:p>
          <a:p>
            <a:pPr>
              <a:spcAft>
                <a:spcPts val="1200"/>
              </a:spcAft>
              <a:defRPr sz="2100" b="0">
                <a:solidFill>
                  <a:srgbClr val="17365D"/>
                </a:solidFill>
                <a:latin typeface="Aptos"/>
              </a:defRPr>
            </a:pPr>
            <a:r>
              <a:t>↓  Model-generated RTL</a:t>
            </a:r>
          </a:p>
          <a:p>
            <a:pPr>
              <a:spcAft>
                <a:spcPts val="1200"/>
              </a:spcAft>
              <a:defRPr sz="2100" b="0">
                <a:solidFill>
                  <a:srgbClr val="17365D"/>
                </a:solidFill>
                <a:latin typeface="Aptos"/>
              </a:defRPr>
            </a:pPr>
            <a:r>
              <a:t>↓  Xcelium compile</a:t>
            </a:r>
          </a:p>
          <a:p>
            <a:pPr>
              <a:spcAft>
                <a:spcPts val="1200"/>
              </a:spcAft>
              <a:defRPr sz="2100" b="0">
                <a:solidFill>
                  <a:srgbClr val="17365D"/>
                </a:solidFill>
                <a:latin typeface="Aptos"/>
              </a:defRPr>
            </a:pPr>
            <a:r>
              <a:t>↓  Functional simulation</a:t>
            </a:r>
          </a:p>
          <a:p>
            <a:pPr>
              <a:spcAft>
                <a:spcPts val="1200"/>
              </a:spcAft>
              <a:defRPr sz="2100" b="1">
                <a:solidFill>
                  <a:srgbClr val="9B2C2C"/>
                </a:solidFill>
                <a:latin typeface="Aptos"/>
              </a:defRPr>
            </a:pPr>
            <a:r>
              <a:t>↓  JasperGold CDC/RDC</a:t>
            </a:r>
          </a:p>
          <a:p>
            <a:pPr>
              <a:spcAft>
                <a:spcPts val="1200"/>
              </a:spcAft>
              <a:defRPr sz="2100" b="1">
                <a:solidFill>
                  <a:srgbClr val="17365D"/>
                </a:solidFill>
                <a:latin typeface="Aptos"/>
              </a:defRPr>
            </a:pPr>
            <a:r>
              <a:t>↓  Pass@k + archived evidence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7365D"/>
                </a:solidFill>
                <a:latin typeface="Aptos Display"/>
              </a:defRPr>
            </a:pPr>
            <a:r>
              <a:t>Packaged CDC circuits: 44/44 tool-clean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87552"/>
            <a:ext cx="10881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4B5563"/>
                </a:solidFill>
                <a:latin typeface="Aptos"/>
              </a:defRPr>
            </a:pPr>
            <a:r>
              <a:t>Same layout as the pilot: original RTL, fixed RTL, testbench, SDC, Jasper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6510528"/>
            <a:ext cx="10881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B5563"/>
                </a:solidFill>
                <a:latin typeface="Aptos"/>
              </a:defRPr>
            </a:pPr>
            <a:r>
              <a:t>Faiza · CDC-aware RTL generation · 24 Aug 2026                                      4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325880"/>
          <a:ext cx="10698480" cy="3246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1645920"/>
                <a:gridCol w="2926080"/>
                <a:gridCol w="3017520"/>
              </a:tblGrid>
              <a:tr h="649224">
                <a:tc>
                  <a:txBody>
                    <a:bodyPr/>
                    <a:lstStyle/>
                    <a:p>
                      <a:pPr algn="l">
                        <a:defRPr sz="1600" b="1">
                          <a:solidFill>
                            <a:srgbClr val="17365D"/>
                          </a:solidFill>
                          <a:latin typeface="Aptos"/>
                        </a:defRPr>
                      </a:pPr>
                      <a:r>
                        <a:t>Set</a:t>
                      </a:r>
                    </a:p>
                  </a:txBody>
                  <a:tcPr marL="73152" marR="73152" marT="45720" marB="45720">
                    <a:solidFill>
                      <a:srgbClr val="DFE7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17365D"/>
                          </a:solidFill>
                          <a:latin typeface="Aptos"/>
                        </a:defRPr>
                      </a:pPr>
                      <a:r>
                        <a:t>Count</a:t>
                      </a:r>
                    </a:p>
                  </a:txBody>
                  <a:tcPr marL="73152" marR="73152" marT="45720" marB="45720">
                    <a:solidFill>
                      <a:srgbClr val="DFE7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17365D"/>
                          </a:solidFill>
                          <a:latin typeface="Aptos"/>
                        </a:defRPr>
                      </a:pPr>
                      <a:r>
                        <a:t>Functional sim</a:t>
                      </a:r>
                    </a:p>
                  </a:txBody>
                  <a:tcPr marL="73152" marR="73152" marT="45720" marB="45720">
                    <a:solidFill>
                      <a:srgbClr val="DFE7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17365D"/>
                          </a:solidFill>
                          <a:latin typeface="Aptos"/>
                        </a:defRPr>
                      </a:pPr>
                      <a:r>
                        <a:t>JasperGold CDC/RDC</a:t>
                      </a:r>
                    </a:p>
                  </a:txBody>
                  <a:tcPr marL="73152" marR="73152" marT="45720" marB="45720">
                    <a:solidFill>
                      <a:srgbClr val="DFE7F2"/>
                    </a:solidFill>
                  </a:tcPr>
                </a:tc>
              </a:tr>
              <a:tr h="649224">
                <a:tc>
                  <a:txBody>
                    <a:bodyPr/>
                    <a:lstStyle/>
                    <a:p>
                      <a:pPr algn="l">
                        <a:defRPr sz="1600" b="0">
                          <a:solidFill>
                            <a:srgbClr val="172033"/>
                          </a:solidFill>
                          <a:latin typeface="Aptos"/>
                        </a:defRPr>
                      </a:pPr>
                      <a:r>
                        <a:t>Frozen pilot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172033"/>
                          </a:solidFill>
                          <a:latin typeface="Aptos"/>
                        </a:defRPr>
                      </a:pPr>
                      <a:r>
                        <a:t>11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172033"/>
                          </a:solidFill>
                          <a:latin typeface="Aptos"/>
                        </a:defRPr>
                      </a:pPr>
                      <a:r>
                        <a:t>11/11 PASS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172033"/>
                          </a:solidFill>
                          <a:latin typeface="Aptos"/>
                        </a:defRPr>
                      </a:pPr>
                      <a:r>
                        <a:t>11/11 CLEAN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649224">
                <a:tc>
                  <a:txBody>
                    <a:bodyPr/>
                    <a:lstStyle/>
                    <a:p>
                      <a:pPr algn="l">
                        <a:defRPr sz="1600" b="0">
                          <a:solidFill>
                            <a:srgbClr val="172033"/>
                          </a:solidFill>
                          <a:latin typeface="Aptos"/>
                        </a:defRPr>
                      </a:pPr>
                      <a:r>
                        <a:t>Catalog imports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172033"/>
                          </a:solidFill>
                          <a:latin typeface="Aptos"/>
                        </a:defRPr>
                      </a:pPr>
                      <a:r>
                        <a:t>19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172033"/>
                          </a:solidFill>
                          <a:latin typeface="Aptos"/>
                        </a:defRPr>
                      </a:pPr>
                      <a:r>
                        <a:t>19/19 PASS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172033"/>
                          </a:solidFill>
                          <a:latin typeface="Aptos"/>
                        </a:defRPr>
                      </a:pPr>
                      <a:r>
                        <a:t>19/19 CLEAN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649224">
                <a:tc>
                  <a:txBody>
                    <a:bodyPr/>
                    <a:lstStyle/>
                    <a:p>
                      <a:pPr algn="l">
                        <a:defRPr sz="1600" b="0">
                          <a:solidFill>
                            <a:srgbClr val="172033"/>
                          </a:solidFill>
                          <a:latin typeface="Aptos"/>
                        </a:defRPr>
                      </a:pPr>
                      <a:r>
                        <a:t>Additional CDC circuits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172033"/>
                          </a:solidFill>
                          <a:latin typeface="Aptos"/>
                        </a:defRPr>
                      </a:pPr>
                      <a:r>
                        <a:t>14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172033"/>
                          </a:solidFill>
                          <a:latin typeface="Aptos"/>
                        </a:defRPr>
                      </a:pPr>
                      <a:r>
                        <a:t>14/14 PASS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172033"/>
                          </a:solidFill>
                          <a:latin typeface="Aptos"/>
                        </a:defRPr>
                      </a:pPr>
                      <a:r>
                        <a:t>14/14 CLEAN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649224">
                <a:tc>
                  <a:txBody>
                    <a:bodyPr/>
                    <a:lstStyle/>
                    <a:p>
                      <a:pPr algn="l">
                        <a:defRPr sz="1600" b="0">
                          <a:solidFill>
                            <a:srgbClr val="172033"/>
                          </a:solidFill>
                          <a:latin typeface="Aptos"/>
                        </a:defRPr>
                      </a:pPr>
                      <a:r>
                        <a:t>Total packaged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172033"/>
                          </a:solidFill>
                          <a:latin typeface="Aptos"/>
                        </a:defRPr>
                      </a:pPr>
                      <a:r>
                        <a:t>44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172033"/>
                          </a:solidFill>
                          <a:latin typeface="Aptos"/>
                        </a:defRPr>
                      </a:pPr>
                      <a:r>
                        <a:t>44/44 PASS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172033"/>
                          </a:solidFill>
                          <a:latin typeface="Aptos"/>
                        </a:defRPr>
                      </a:pPr>
                      <a:r>
                        <a:t>44/44 CLEAN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77240" y="4709160"/>
            <a:ext cx="1060704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  <a:defRPr sz="1700">
                <a:solidFill>
                  <a:srgbClr val="172033"/>
                </a:solidFill>
                <a:latin typeface="Aptos"/>
              </a:defRPr>
            </a:pPr>
            <a:r>
              <a:t>Families added: Gray and 2-phase FIFOs, reset controllers, isochronous handshake, APB/AXI-Lite CDC, synchronizers.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1700">
                <a:solidFill>
                  <a:srgbClr val="172033"/>
                </a:solidFill>
                <a:latin typeface="Aptos"/>
              </a:defRPr>
            </a:pPr>
            <a:r>
              <a:t>These 44 are packaged references, not 44 LLM results. Specs for the extra 33 remain draft.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7365D"/>
                </a:solidFill>
                <a:latin typeface="Aptos Display"/>
              </a:defRPr>
            </a:pPr>
            <a:r>
              <a:t>Frozen one-shot baselines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87552"/>
            <a:ext cx="10881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4B5563"/>
                </a:solidFill>
                <a:latin typeface="Aptos"/>
              </a:defRPr>
            </a:pPr>
            <a:r>
              <a:t>Same scope: 3 circuits × 2 prompts × 3 attempts = 18 per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6510528"/>
            <a:ext cx="10881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B5563"/>
                </a:solidFill>
                <a:latin typeface="Aptos"/>
              </a:defRPr>
            </a:pPr>
            <a:r>
              <a:t>Faiza · CDC-aware RTL generation · 24 Aug 2026                                      5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371600"/>
          <a:ext cx="1078992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23360"/>
                <a:gridCol w="1645920"/>
                <a:gridCol w="1645920"/>
                <a:gridCol w="1828800"/>
                <a:gridCol w="1645920"/>
              </a:tblGrid>
              <a:tr h="617220">
                <a:tc>
                  <a:txBody>
                    <a:bodyPr/>
                    <a:lstStyle/>
                    <a:p>
                      <a:pPr algn="l">
                        <a:defRPr sz="1600" b="1">
                          <a:solidFill>
                            <a:srgbClr val="17365D"/>
                          </a:solidFill>
                          <a:latin typeface="Aptos"/>
                        </a:defRPr>
                      </a:pPr>
                      <a:r>
                        <a:t>Model</a:t>
                      </a:r>
                    </a:p>
                  </a:txBody>
                  <a:tcPr marL="73152" marR="73152" marT="45720" marB="45720">
                    <a:solidFill>
                      <a:srgbClr val="DFE7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17365D"/>
                          </a:solidFill>
                          <a:latin typeface="Aptos"/>
                        </a:defRPr>
                      </a:pPr>
                      <a:r>
                        <a:t>Base</a:t>
                      </a:r>
                    </a:p>
                  </a:txBody>
                  <a:tcPr marL="73152" marR="73152" marT="45720" marB="45720">
                    <a:solidFill>
                      <a:srgbClr val="DFE7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17365D"/>
                          </a:solidFill>
                          <a:latin typeface="Aptos"/>
                        </a:defRPr>
                      </a:pPr>
                      <a:r>
                        <a:t>Compile</a:t>
                      </a:r>
                    </a:p>
                  </a:txBody>
                  <a:tcPr marL="73152" marR="73152" marT="45720" marB="45720">
                    <a:solidFill>
                      <a:srgbClr val="DFE7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17365D"/>
                          </a:solidFill>
                          <a:latin typeface="Aptos"/>
                        </a:defRPr>
                      </a:pPr>
                      <a:r>
                        <a:t>Functional</a:t>
                      </a:r>
                    </a:p>
                  </a:txBody>
                  <a:tcPr marL="73152" marR="73152" marT="45720" marB="45720">
                    <a:solidFill>
                      <a:srgbClr val="DFE7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17365D"/>
                          </a:solidFill>
                          <a:latin typeface="Aptos"/>
                        </a:defRPr>
                      </a:pPr>
                      <a:r>
                        <a:t>CDC-clean</a:t>
                      </a:r>
                    </a:p>
                  </a:txBody>
                  <a:tcPr marL="73152" marR="73152" marT="45720" marB="45720">
                    <a:solidFill>
                      <a:srgbClr val="DFE7F2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 algn="l">
                        <a:defRPr sz="1600" b="0">
                          <a:solidFill>
                            <a:srgbClr val="172033"/>
                          </a:solidFill>
                          <a:latin typeface="Aptos"/>
                        </a:defRPr>
                      </a:pPr>
                      <a:r>
                        <a:t>Llama 3.3 70B Instruct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172033"/>
                          </a:solidFill>
                          <a:latin typeface="Aptos"/>
                        </a:defRPr>
                      </a:pPr>
                      <a:r>
                        <a:t>Llama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172033"/>
                          </a:solidFill>
                          <a:latin typeface="Aptos"/>
                        </a:defRPr>
                      </a:pPr>
                      <a:r>
                        <a:t>4/18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172033"/>
                          </a:solidFill>
                          <a:latin typeface="Aptos"/>
                        </a:defRPr>
                      </a:pPr>
                      <a:r>
                        <a:t>0/18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172033"/>
                          </a:solidFill>
                          <a:latin typeface="Aptos"/>
                        </a:defRPr>
                      </a:pPr>
                      <a:r>
                        <a:t>0/18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 algn="l">
                        <a:defRPr sz="1600" b="0">
                          <a:solidFill>
                            <a:srgbClr val="172033"/>
                          </a:solidFill>
                          <a:latin typeface="Aptos"/>
                        </a:defRPr>
                      </a:pPr>
                      <a:r>
                        <a:t>RTLCoder-v1.1 4-bit GGUF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172033"/>
                          </a:solidFill>
                          <a:latin typeface="Aptos"/>
                        </a:defRPr>
                      </a:pPr>
                      <a:r>
                        <a:t>Mistral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172033"/>
                          </a:solidFill>
                          <a:latin typeface="Aptos"/>
                        </a:defRPr>
                      </a:pPr>
                      <a:r>
                        <a:t>1/18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172033"/>
                          </a:solidFill>
                          <a:latin typeface="Aptos"/>
                        </a:defRPr>
                      </a:pPr>
                      <a:r>
                        <a:t>0/18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172033"/>
                          </a:solidFill>
                          <a:latin typeface="Aptos"/>
                        </a:defRPr>
                      </a:pPr>
                      <a:r>
                        <a:t>0/18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 algn="l">
                        <a:defRPr sz="1600" b="0">
                          <a:solidFill>
                            <a:srgbClr val="172033"/>
                          </a:solidFill>
                          <a:latin typeface="Aptos"/>
                        </a:defRPr>
                      </a:pPr>
                      <a:r>
                        <a:t>RTLCoder-DeepSeek-v1.1 fp16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172033"/>
                          </a:solidFill>
                          <a:latin typeface="Aptos"/>
                        </a:defRPr>
                      </a:pPr>
                      <a:r>
                        <a:t>DeepSeek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172033"/>
                          </a:solidFill>
                          <a:latin typeface="Aptos"/>
                        </a:defRPr>
                      </a:pPr>
                      <a:r>
                        <a:t>5/18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172033"/>
                          </a:solidFill>
                          <a:latin typeface="Aptos"/>
                        </a:defRPr>
                      </a:pPr>
                      <a:r>
                        <a:t>0/18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172033"/>
                          </a:solidFill>
                          <a:latin typeface="Aptos"/>
                        </a:defRPr>
                      </a:pPr>
                      <a:r>
                        <a:t>0/18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77240" y="406908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  <a:defRPr sz="1600">
                <a:solidFill>
                  <a:srgbClr val="172033"/>
                </a:solidFill>
                <a:latin typeface="Aptos"/>
              </a:defRPr>
            </a:pPr>
            <a:r>
              <a:t>GGUF RTLCoder is Mistral-based. RTLCoder-DeepSeek is a separate fine-tune.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1600">
                <a:solidFill>
                  <a:srgbClr val="172033"/>
                </a:solidFill>
                <a:latin typeface="Aptos"/>
              </a:defRPr>
            </a:pPr>
            <a:r>
              <a:t>Typical failures: invalid assignments, truncation, broken APB, CDC timeout.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1600">
                <a:solidFill>
                  <a:srgbClr val="172033"/>
                </a:solidFill>
                <a:latin typeface="Aptos"/>
              </a:defRPr>
            </a:pPr>
            <a:r>
              <a:t>CDC-explicit wording alone did not produce a functional pass. Repair and Pass@20 are separate columns.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7365D"/>
                </a:solidFill>
                <a:latin typeface="Aptos Display"/>
              </a:defRPr>
            </a:pPr>
            <a:r>
              <a:t>Main result: GPT-5.6 Sol exposes the evaluation gap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87552"/>
            <a:ext cx="10881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4B5563"/>
                </a:solidFill>
                <a:latin typeface="Aptos"/>
              </a:defRPr>
            </a:pPr>
            <a:r>
              <a:t>3 circuits × 2 prompts × 10 attempts · compile → sim → Jasper after sim pass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6510528"/>
            <a:ext cx="10881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B5563"/>
                </a:solidFill>
                <a:latin typeface="Aptos"/>
              </a:defRPr>
            </a:pPr>
            <a:r>
              <a:t>Faiza · CDC-aware RTL generation · 24 Aug 2026                                      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280160"/>
          <a:ext cx="10698480" cy="3794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194560"/>
                <a:gridCol w="1828800"/>
                <a:gridCol w="2103120"/>
                <a:gridCol w="2377440"/>
              </a:tblGrid>
              <a:tr h="542108"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17365D"/>
                          </a:solidFill>
                          <a:latin typeface="Aptos"/>
                        </a:defRPr>
                      </a:pPr>
                      <a:r>
                        <a:t>Circuit</a:t>
                      </a:r>
                    </a:p>
                  </a:txBody>
                  <a:tcPr marL="73152" marR="73152" marT="45720" marB="45720">
                    <a:solidFill>
                      <a:srgbClr val="DFE7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17365D"/>
                          </a:solidFill>
                          <a:latin typeface="Aptos"/>
                        </a:defRPr>
                      </a:pPr>
                      <a:r>
                        <a:t>Prompt</a:t>
                      </a:r>
                    </a:p>
                  </a:txBody>
                  <a:tcPr marL="73152" marR="73152" marT="45720" marB="45720">
                    <a:solidFill>
                      <a:srgbClr val="DFE7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17365D"/>
                          </a:solidFill>
                          <a:latin typeface="Aptos"/>
                        </a:defRPr>
                      </a:pPr>
                      <a:r>
                        <a:t>Compile</a:t>
                      </a:r>
                    </a:p>
                  </a:txBody>
                  <a:tcPr marL="73152" marR="73152" marT="45720" marB="45720">
                    <a:solidFill>
                      <a:srgbClr val="DFE7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17365D"/>
                          </a:solidFill>
                          <a:latin typeface="Aptos"/>
                        </a:defRPr>
                      </a:pPr>
                      <a:r>
                        <a:t>Functional</a:t>
                      </a:r>
                    </a:p>
                  </a:txBody>
                  <a:tcPr marL="73152" marR="73152" marT="45720" marB="45720">
                    <a:solidFill>
                      <a:srgbClr val="DFE7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17365D"/>
                          </a:solidFill>
                          <a:latin typeface="Aptos"/>
                        </a:defRPr>
                      </a:pPr>
                      <a:r>
                        <a:t>Jasper-clean</a:t>
                      </a:r>
                    </a:p>
                  </a:txBody>
                  <a:tcPr marL="73152" marR="73152" marT="45720" marB="45720">
                    <a:solidFill>
                      <a:srgbClr val="DFE7F2"/>
                    </a:solidFill>
                  </a:tcPr>
                </a:tc>
              </a:tr>
              <a:tr h="542108"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172033"/>
                          </a:solidFill>
                          <a:latin typeface="Aptos"/>
                        </a:defRPr>
                      </a:pPr>
                      <a:r>
                        <a:t>cdc_2phase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172033"/>
                          </a:solidFill>
                          <a:latin typeface="Aptos"/>
                        </a:defRPr>
                      </a:pPr>
                      <a:r>
                        <a:t>functional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172033"/>
                          </a:solidFill>
                          <a:latin typeface="Aptos"/>
                        </a:defRPr>
                      </a:pPr>
                      <a:r>
                        <a:t>10/10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172033"/>
                          </a:solidFill>
                          <a:latin typeface="Aptos"/>
                        </a:defRPr>
                      </a:pPr>
                      <a:r>
                        <a:t>10/10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172033"/>
                          </a:solidFill>
                          <a:latin typeface="Aptos"/>
                        </a:defRPr>
                      </a:pPr>
                      <a:r>
                        <a:t>0/10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542108"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172033"/>
                          </a:solidFill>
                          <a:latin typeface="Aptos"/>
                        </a:defRPr>
                      </a:pPr>
                      <a:r>
                        <a:t>cdc_2phase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172033"/>
                          </a:solidFill>
                          <a:latin typeface="Aptos"/>
                        </a:defRPr>
                      </a:pPr>
                      <a:r>
                        <a:t>cdc_explicit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172033"/>
                          </a:solidFill>
                          <a:latin typeface="Aptos"/>
                        </a:defRPr>
                      </a:pPr>
                      <a:r>
                        <a:t>10/10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172033"/>
                          </a:solidFill>
                          <a:latin typeface="Aptos"/>
                        </a:defRPr>
                      </a:pPr>
                      <a:r>
                        <a:t>10/10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172033"/>
                          </a:solidFill>
                          <a:latin typeface="Aptos"/>
                        </a:defRPr>
                      </a:pPr>
                      <a:r>
                        <a:t>0/10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542108"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172033"/>
                          </a:solidFill>
                          <a:latin typeface="Aptos"/>
                        </a:defRPr>
                      </a:pPr>
                      <a:r>
                        <a:t>async_fifo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172033"/>
                          </a:solidFill>
                          <a:latin typeface="Aptos"/>
                        </a:defRPr>
                      </a:pPr>
                      <a:r>
                        <a:t>functional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172033"/>
                          </a:solidFill>
                          <a:latin typeface="Aptos"/>
                        </a:defRPr>
                      </a:pPr>
                      <a:r>
                        <a:t>10/10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172033"/>
                          </a:solidFill>
                          <a:latin typeface="Aptos"/>
                        </a:defRPr>
                      </a:pPr>
                      <a:r>
                        <a:t>0/10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172033"/>
                          </a:solidFill>
                          <a:latin typeface="Aptos"/>
                        </a:defRPr>
                      </a:pPr>
                      <a:r>
                        <a:t>not run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542108"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172033"/>
                          </a:solidFill>
                          <a:latin typeface="Aptos"/>
                        </a:defRPr>
                      </a:pPr>
                      <a:r>
                        <a:t>async_fifo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172033"/>
                          </a:solidFill>
                          <a:latin typeface="Aptos"/>
                        </a:defRPr>
                      </a:pPr>
                      <a:r>
                        <a:t>cdc_explicit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172033"/>
                          </a:solidFill>
                          <a:latin typeface="Aptos"/>
                        </a:defRPr>
                      </a:pPr>
                      <a:r>
                        <a:t>10/10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172033"/>
                          </a:solidFill>
                          <a:latin typeface="Aptos"/>
                        </a:defRPr>
                      </a:pPr>
                      <a:r>
                        <a:t>0/10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172033"/>
                          </a:solidFill>
                          <a:latin typeface="Aptos"/>
                        </a:defRPr>
                      </a:pPr>
                      <a:r>
                        <a:t>not run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542108"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172033"/>
                          </a:solidFill>
                          <a:latin typeface="Aptos"/>
                        </a:defRPr>
                      </a:pPr>
                      <a:r>
                        <a:t>apbxclk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172033"/>
                          </a:solidFill>
                          <a:latin typeface="Aptos"/>
                        </a:defRPr>
                      </a:pPr>
                      <a:r>
                        <a:t>functional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172033"/>
                          </a:solidFill>
                          <a:latin typeface="Aptos"/>
                        </a:defRPr>
                      </a:pPr>
                      <a:r>
                        <a:t>9/9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172033"/>
                          </a:solidFill>
                          <a:latin typeface="Aptos"/>
                        </a:defRPr>
                      </a:pPr>
                      <a:r>
                        <a:t>9/9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172033"/>
                          </a:solidFill>
                          <a:latin typeface="Aptos"/>
                        </a:defRPr>
                      </a:pPr>
                      <a:r>
                        <a:t>0/9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542112"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172033"/>
                          </a:solidFill>
                          <a:latin typeface="Aptos"/>
                        </a:defRPr>
                      </a:pPr>
                      <a:r>
                        <a:t>apbxclk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172033"/>
                          </a:solidFill>
                          <a:latin typeface="Aptos"/>
                        </a:defRPr>
                      </a:pPr>
                      <a:r>
                        <a:t>cdc_explicit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172033"/>
                          </a:solidFill>
                          <a:latin typeface="Aptos"/>
                        </a:defRPr>
                      </a:pPr>
                      <a:r>
                        <a:t>—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172033"/>
                          </a:solidFill>
                          <a:latin typeface="Aptos"/>
                        </a:defRPr>
                      </a:pPr>
                      <a:r>
                        <a:t>—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172033"/>
                          </a:solidFill>
                          <a:latin typeface="Aptos"/>
                        </a:defRPr>
                      </a:pPr>
                      <a:r>
                        <a:t>credits exhausted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777240" y="5303520"/>
            <a:ext cx="10652760" cy="749808"/>
          </a:xfrm>
          <a:prstGeom prst="rect">
            <a:avLst/>
          </a:prstGeom>
          <a:solidFill>
            <a:srgbClr val="DFE7F2"/>
          </a:solidFill>
          <a:ln w="25400">
            <a:solidFill>
              <a:srgbClr val="9B2C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100" b="1">
                <a:solidFill>
                  <a:srgbClr val="9B2C2C"/>
                </a:solidFill>
                <a:latin typeface="Aptos"/>
              </a:defRPr>
            </a:pPr>
            <a:r>
              <a:t>29/29 sim passes failed Jasper. Typical tags: RST_PH_GLCH, RDC_RS_DFRS.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7365D"/>
                </a:solidFill>
                <a:latin typeface="Aptos Display"/>
              </a:defRPr>
            </a:pPr>
            <a:r>
              <a:t>Other protocols (not mixed into the Sol table)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87552"/>
            <a:ext cx="10881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4B5563"/>
                </a:solidFill>
                <a:latin typeface="Aptos"/>
              </a:defRPr>
            </a:pPr>
            <a:r>
              <a:t>One-shot, extra sampling, and repair stay in separate columns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6510528"/>
            <a:ext cx="10881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B5563"/>
                </a:solidFill>
                <a:latin typeface="Aptos"/>
              </a:defRPr>
            </a:pPr>
            <a:r>
              <a:t>Faiza · CDC-aware RTL generation · 24 Aug 2026                                      7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417320"/>
          <a:ext cx="1069848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4023360"/>
                <a:gridCol w="3566160"/>
              </a:tblGrid>
              <a:tr h="822960">
                <a:tc>
                  <a:txBody>
                    <a:bodyPr/>
                    <a:lstStyle/>
                    <a:p>
                      <a:pPr algn="l">
                        <a:defRPr sz="1500" b="1">
                          <a:solidFill>
                            <a:srgbClr val="17365D"/>
                          </a:solidFill>
                          <a:latin typeface="Aptos"/>
                        </a:defRPr>
                      </a:pPr>
                      <a:r>
                        <a:t>Protocol</a:t>
                      </a:r>
                    </a:p>
                  </a:txBody>
                  <a:tcPr marL="73152" marR="73152" marT="45720" marB="45720">
                    <a:solidFill>
                      <a:srgbClr val="DFE7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17365D"/>
                          </a:solidFill>
                          <a:latin typeface="Aptos"/>
                        </a:defRPr>
                      </a:pPr>
                      <a:r>
                        <a:t>Result</a:t>
                      </a:r>
                    </a:p>
                  </a:txBody>
                  <a:tcPr marL="73152" marR="73152" marT="45720" marB="45720">
                    <a:solidFill>
                      <a:srgbClr val="DFE7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17365D"/>
                          </a:solidFill>
                          <a:latin typeface="Aptos"/>
                        </a:defRPr>
                      </a:pPr>
                      <a:r>
                        <a:t>Takeaway</a:t>
                      </a:r>
                    </a:p>
                  </a:txBody>
                  <a:tcPr marL="73152" marR="73152" marT="45720" marB="45720">
                    <a:solidFill>
                      <a:srgbClr val="DFE7F2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l">
                        <a:defRPr sz="1500" b="0">
                          <a:solidFill>
                            <a:srgbClr val="172033"/>
                          </a:solidFill>
                          <a:latin typeface="Aptos"/>
                        </a:defRPr>
                      </a:pPr>
                      <a:r>
                        <a:t>Llama compile-repair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172033"/>
                          </a:solidFill>
                          <a:latin typeface="Aptos"/>
                        </a:defRPr>
                      </a:pPr>
                      <a:r>
                        <a:t>6/6 compile; 1/6 functional; 0 clean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172033"/>
                          </a:solidFill>
                          <a:latin typeface="Aptos"/>
                        </a:defRPr>
                      </a:pPr>
                      <a:r>
                        <a:t>Feedback fixes syntax, not CDC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l">
                        <a:defRPr sz="1500" b="0">
                          <a:solidFill>
                            <a:srgbClr val="172033"/>
                          </a:solidFill>
                          <a:latin typeface="Aptos"/>
                        </a:defRPr>
                      </a:pPr>
                      <a:r>
                        <a:t>RTLCoder-DeepSeek Pass@20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172033"/>
                          </a:solidFill>
                          <a:latin typeface="Aptos"/>
                        </a:defRPr>
                      </a:pPr>
                      <a:r>
                        <a:t>73 RTL; 7 compile; 0 functional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172033"/>
                          </a:solidFill>
                          <a:latin typeface="Aptos"/>
                        </a:defRPr>
                      </a:pPr>
                      <a:r>
                        <a:t>More samples found no sim pass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l">
                        <a:defRPr sz="1500" b="0">
                          <a:solidFill>
                            <a:srgbClr val="172033"/>
                          </a:solidFill>
                          <a:latin typeface="Aptos"/>
                        </a:defRPr>
                      </a:pPr>
                      <a:r>
                        <a:t>Jasper on those 7 compiles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172033"/>
                          </a:solidFill>
                          <a:latin typeface="Aptos"/>
                        </a:defRPr>
                      </a:pPr>
                      <a:r>
                        <a:t>5 RDC fail; 2 zero crossings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172033"/>
                          </a:solidFill>
                          <a:latin typeface="Aptos"/>
                        </a:defRPr>
                      </a:pPr>
                      <a:r>
                        <a:t>Zero violations ≠ automatically clean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7365D"/>
                </a:solidFill>
                <a:latin typeface="Aptos Display"/>
              </a:defRPr>
            </a:pPr>
            <a:r>
              <a:t>Limitations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510528"/>
            <a:ext cx="10881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B5563"/>
                </a:solidFill>
                <a:latin typeface="Aptos"/>
              </a:defRPr>
            </a:pPr>
            <a:r>
              <a:t>Faiza · CDC-aware RTL generation · 24 Aug 2026                                     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  <a:defRPr sz="2000">
                <a:solidFill>
                  <a:srgbClr val="172033"/>
                </a:solidFill>
                <a:latin typeface="Aptos"/>
              </a:defRPr>
            </a:pPr>
            <a:r>
              <a:t>LLM generation is still the 3-circuit pilot, not all 44 packaged circuits.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2000">
                <a:solidFill>
                  <a:srgbClr val="172033"/>
                </a:solidFill>
                <a:latin typeface="Aptos"/>
              </a:defRPr>
            </a:pPr>
            <a:r>
              <a:t>GPT-5.6 Sol is 49/60 complete; apbxclk CDC-explicit and one functional attempt remain.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2000">
                <a:solidFill>
                  <a:srgbClr val="172033"/>
                </a:solidFill>
                <a:latin typeface="Aptos"/>
              </a:defRPr>
            </a:pPr>
            <a:r>
              <a:t>OpenAI GPT-5.6 does not expose temperature, top-p, or seed.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2000">
                <a:solidFill>
                  <a:srgbClr val="172033"/>
                </a:solidFill>
                <a:latin typeface="Aptos"/>
              </a:defRPr>
            </a:pPr>
            <a:r>
              <a:t>RTLCoder-DeepSeek Pass@20 has no apbxclk yet.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2000">
                <a:solidFill>
                  <a:srgbClr val="172033"/>
                </a:solidFill>
                <a:latin typeface="Aptos"/>
              </a:defRPr>
            </a:pPr>
            <a:r>
              <a:t>Specs for the extra 33 circuits are still draft.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2000">
                <a:solidFill>
                  <a:srgbClr val="172033"/>
                </a:solidFill>
                <a:latin typeface="Aptos"/>
              </a:defRPr>
            </a:pPr>
            <a:r>
              <a:t>No synthesis, area, or assertion score yet.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7365D"/>
                </a:solidFill>
                <a:latin typeface="Aptos Display"/>
              </a:defRPr>
            </a:pPr>
            <a:r>
              <a:t>Proposed next phase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510528"/>
            <a:ext cx="10881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B5563"/>
                </a:solidFill>
                <a:latin typeface="Aptos"/>
              </a:defRPr>
            </a:pPr>
            <a:r>
              <a:t>Faiza · CDC-aware RTL generation · 24 Aug 2026                                     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6070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  <a:defRPr sz="2200">
                <a:solidFill>
                  <a:srgbClr val="172033"/>
                </a:solidFill>
                <a:latin typeface="Aptos"/>
              </a:defRPr>
            </a:pPr>
            <a:r>
              <a:t>Ask for this meeting</a:t>
            </a:r>
          </a:p>
          <a:p>
            <a:pPr lvl="1">
              <a:lnSpc>
                <a:spcPct val="105000"/>
              </a:lnSpc>
              <a:spcAft>
                <a:spcPts val="400"/>
              </a:spcAft>
              <a:defRPr sz="2000">
                <a:solidFill>
                  <a:srgbClr val="172033"/>
                </a:solidFill>
                <a:latin typeface="Aptos"/>
              </a:defRPr>
            </a:pPr>
            <a:r>
              <a:t>Resume the remaining 11 GPT-5.6 Sol attempts after credits are added.</a:t>
            </a:r>
          </a:p>
          <a:p>
            <a:pPr lvl="1">
              <a:lnSpc>
                <a:spcPct val="105000"/>
              </a:lnSpc>
              <a:spcAft>
                <a:spcPts val="400"/>
              </a:spcAft>
              <a:defRPr sz="2000">
                <a:solidFill>
                  <a:srgbClr val="172033"/>
                </a:solidFill>
                <a:latin typeface="Aptos"/>
              </a:defRPr>
            </a:pPr>
            <a:r>
              <a:t>Run one more API model on the same 3 × 2 × 10 loop.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2200">
                <a:solidFill>
                  <a:srgbClr val="172033"/>
                </a:solidFill>
                <a:latin typeface="Aptos"/>
              </a:defRPr>
            </a:pPr>
            <a:r>
              <a:t>After that</a:t>
            </a:r>
          </a:p>
          <a:p>
            <a:pPr lvl="1">
              <a:lnSpc>
                <a:spcPct val="105000"/>
              </a:lnSpc>
              <a:spcAft>
                <a:spcPts val="400"/>
              </a:spcAft>
              <a:defRPr sz="2000">
                <a:solidFill>
                  <a:srgbClr val="172033"/>
                </a:solidFill>
                <a:latin typeface="Aptos"/>
              </a:defRPr>
            </a:pPr>
            <a:r>
              <a:t>Finish RTLCoder-DeepSeek Pass@20 when GPU is available.</a:t>
            </a:r>
          </a:p>
          <a:p>
            <a:pPr lvl="1">
              <a:lnSpc>
                <a:spcPct val="105000"/>
              </a:lnSpc>
              <a:spcAft>
                <a:spcPts val="400"/>
              </a:spcAft>
              <a:defRPr sz="2000">
                <a:solidFill>
                  <a:srgbClr val="172033"/>
                </a:solidFill>
                <a:latin typeface="Aptos"/>
              </a:defRPr>
            </a:pPr>
            <a:r>
              <a:t>Expand generation from the 3-circuit pilot across the packaged 44.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74519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17365D"/>
                </a:solidFill>
                <a:latin typeface="Aptos Display"/>
              </a:defRPr>
            </a:pPr>
            <a:r>
              <a:t>Thank you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2971800"/>
            <a:ext cx="10652760" cy="749808"/>
          </a:xfrm>
          <a:prstGeom prst="rect">
            <a:avLst/>
          </a:prstGeom>
          <a:solidFill>
            <a:srgbClr val="DFE7F2"/>
          </a:solidFill>
          <a:ln w="25400">
            <a:solidFill>
              <a:srgbClr val="9B2C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100" b="1">
                <a:solidFill>
                  <a:srgbClr val="9B2C2C"/>
                </a:solidFill>
                <a:latin typeface="Aptos"/>
              </a:defRPr>
            </a:pPr>
            <a:r>
              <a:t>Questions?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3977639"/>
            <a:ext cx="1014984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172033"/>
                </a:solidFill>
                <a:latin typeface="Aptos"/>
              </a:defRPr>
            </a:pPr>
            <a:r>
              <a:t>Compilation and simulation are necessary, but not sufficient, for generated CDC RTL.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212080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4B5563"/>
                </a:solidFill>
                <a:latin typeface="Aptos"/>
              </a:defRPr>
            </a:pPr>
            <a:r>
              <a:t>Faiza · CDC-Aware RTL Generation · 24 August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6510528"/>
            <a:ext cx="10881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B5563"/>
                </a:solidFill>
                <a:latin typeface="Aptos"/>
              </a:defRPr>
            </a:pPr>
            <a:r>
              <a:t>Faiza · CDC-aware RTL generation · 24 Aug 2026                                     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